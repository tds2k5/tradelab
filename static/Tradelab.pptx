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embeddedFontLst>
    <p:embeddedFont>
      <p:font typeface="Inter"/>
      <p:regular r:id="rId14"/>
    </p:embeddedFont>
    <p:embeddedFont>
      <p:font typeface="Inter"/>
      <p:regular r:id="rId15"/>
    </p:embeddedFont>
    <p:embeddedFont>
      <p:font typeface="Inter"/>
      <p:regular r:id="rId16"/>
    </p:embeddedFont>
    <p:embeddedFont>
      <p:font typeface="Inter"/>
      <p:regular r:id="rId17"/>
    </p:embeddedFont>
    <p:embeddedFont>
      <p:font typeface="Inter"/>
      <p:regular r:id="rId18"/>
    </p:embeddedFont>
    <p:embeddedFont>
      <p:font typeface="Inter"/>
      <p:regular r:id="rId19"/>
    </p:embeddedFont>
    <p:embeddedFont>
      <p:font typeface="Inter"/>
      <p:regular r:id="rId20"/>
    </p:embeddedFont>
    <p:embeddedFont>
      <p:font typeface="Inter"/>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slideLayout" Target="../slideLayouts/slideLayout5.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402449" y="3625691"/>
            <a:ext cx="7825502" cy="978218"/>
          </a:xfrm>
          <a:prstGeom prst="rect">
            <a:avLst/>
          </a:prstGeom>
          <a:noFill/>
          <a:ln/>
        </p:spPr>
        <p:txBody>
          <a:bodyPr wrap="none" lIns="0" tIns="0" rIns="0" bIns="0" rtlCol="0" anchor="t"/>
          <a:lstStyle/>
          <a:p>
            <a:pPr algn="ctr" indent="0" marL="0">
              <a:lnSpc>
                <a:spcPts val="7700"/>
              </a:lnSpc>
              <a:buNone/>
            </a:pPr>
            <a:r>
              <a:rPr lang="en-US" sz="6150" b="1" dirty="0">
                <a:solidFill>
                  <a:srgbClr val="000000"/>
                </a:solidFill>
                <a:latin typeface="Inter Bold" pitchFamily="34" charset="0"/>
                <a:ea typeface="Inter Bold" pitchFamily="34" charset="-122"/>
                <a:cs typeface="Inter Bold" pitchFamily="34" charset="-120"/>
              </a:rPr>
              <a:t>Tradelab</a:t>
            </a:r>
            <a:endParaRPr lang="en-US" sz="6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402449" y="2678906"/>
            <a:ext cx="7825502" cy="978218"/>
          </a:xfrm>
          <a:prstGeom prst="rect">
            <a:avLst/>
          </a:prstGeom>
          <a:noFill/>
          <a:ln/>
        </p:spPr>
        <p:txBody>
          <a:bodyPr wrap="none" lIns="0" tIns="0" rIns="0" bIns="0" rtlCol="0" anchor="t"/>
          <a:lstStyle/>
          <a:p>
            <a:pPr algn="ctr" indent="0" marL="0">
              <a:lnSpc>
                <a:spcPts val="7700"/>
              </a:lnSpc>
              <a:buNone/>
            </a:pPr>
            <a:r>
              <a:rPr lang="en-US" sz="6150" b="1" dirty="0">
                <a:solidFill>
                  <a:srgbClr val="000000"/>
                </a:solidFill>
                <a:latin typeface="Inter Bold" pitchFamily="34" charset="0"/>
                <a:ea typeface="Inter Bold" pitchFamily="34" charset="-122"/>
                <a:cs typeface="Inter Bold" pitchFamily="34" charset="-120"/>
              </a:rPr>
              <a:t>Introduction</a:t>
            </a:r>
            <a:endParaRPr lang="en-US" sz="6150" dirty="0"/>
          </a:p>
        </p:txBody>
      </p:sp>
      <p:sp>
        <p:nvSpPr>
          <p:cNvPr id="3" name="Text 1"/>
          <p:cNvSpPr/>
          <p:nvPr/>
        </p:nvSpPr>
        <p:spPr>
          <a:xfrm>
            <a:off x="793790" y="4110752"/>
            <a:ext cx="13042821" cy="1439823"/>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Tradelab is a web-based application developed using Python's Flask framework. </a:t>
            </a:r>
            <a:endParaRPr lang="en-US" sz="1750" dirty="0"/>
          </a:p>
          <a:p>
            <a:pPr algn="l" marL="342900" indent="-342900">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A stock trading platform where users can buy and sell stocks using virtual currency, interacting with real market price data.</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3402449" y="3966210"/>
            <a:ext cx="7825502" cy="978218"/>
          </a:xfrm>
          <a:prstGeom prst="rect">
            <a:avLst/>
          </a:prstGeom>
          <a:noFill/>
          <a:ln/>
        </p:spPr>
        <p:txBody>
          <a:bodyPr wrap="none" lIns="0" tIns="0" rIns="0" bIns="0" rtlCol="0" anchor="t"/>
          <a:lstStyle/>
          <a:p>
            <a:pPr algn="ctr" indent="0" marL="0">
              <a:lnSpc>
                <a:spcPts val="7700"/>
              </a:lnSpc>
              <a:buNone/>
            </a:pPr>
            <a:r>
              <a:rPr lang="en-US" sz="6150" b="1" dirty="0">
                <a:solidFill>
                  <a:srgbClr val="000000"/>
                </a:solidFill>
                <a:latin typeface="Inter Bold" pitchFamily="34" charset="0"/>
                <a:ea typeface="Inter Bold" pitchFamily="34" charset="-122"/>
                <a:cs typeface="Inter Bold" pitchFamily="34" charset="-120"/>
              </a:rPr>
              <a:t>How it works</a:t>
            </a:r>
            <a:endParaRPr lang="en-US" sz="6150" dirty="0"/>
          </a:p>
        </p:txBody>
      </p:sp>
      <p:sp>
        <p:nvSpPr>
          <p:cNvPr id="4" name="Text 1"/>
          <p:cNvSpPr/>
          <p:nvPr/>
        </p:nvSpPr>
        <p:spPr>
          <a:xfrm>
            <a:off x="793790" y="5284589"/>
            <a:ext cx="13042821" cy="1814036"/>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The system fetches real-time stock information from Yahoo Finance using the yfinance API, allowing users to view current stock prices and market information. The application also includes essential features such as user authentication, portfolio, and transaction history.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769281" y="619363"/>
            <a:ext cx="7091839" cy="886420"/>
          </a:xfrm>
          <a:prstGeom prst="rect">
            <a:avLst/>
          </a:prstGeom>
          <a:noFill/>
          <a:ln/>
        </p:spPr>
        <p:txBody>
          <a:bodyPr wrap="none" lIns="0" tIns="0" rIns="0" bIns="0" rtlCol="0" anchor="t"/>
          <a:lstStyle/>
          <a:p>
            <a:pPr algn="ctr" indent="0" marL="0">
              <a:lnSpc>
                <a:spcPts val="6950"/>
              </a:lnSpc>
              <a:buNone/>
            </a:pPr>
            <a:r>
              <a:rPr lang="en-US" sz="5550" b="1" dirty="0">
                <a:solidFill>
                  <a:srgbClr val="000000"/>
                </a:solidFill>
                <a:latin typeface="Inter Bold" pitchFamily="34" charset="0"/>
                <a:ea typeface="Inter Bold" pitchFamily="34" charset="-122"/>
                <a:cs typeface="Inter Bold" pitchFamily="34" charset="-120"/>
              </a:rPr>
              <a:t>Tools &amp; Languages</a:t>
            </a:r>
            <a:endParaRPr lang="en-US" sz="5550" dirty="0"/>
          </a:p>
        </p:txBody>
      </p:sp>
      <p:sp>
        <p:nvSpPr>
          <p:cNvPr id="3" name="Text 1"/>
          <p:cNvSpPr/>
          <p:nvPr/>
        </p:nvSpPr>
        <p:spPr>
          <a:xfrm>
            <a:off x="719376" y="1785104"/>
            <a:ext cx="13191649" cy="391716"/>
          </a:xfrm>
          <a:prstGeom prst="rect">
            <a:avLst/>
          </a:prstGeom>
          <a:noFill/>
          <a:ln/>
        </p:spPr>
        <p:txBody>
          <a:bodyPr wrap="none" lIns="0" tIns="0" rIns="0" bIns="0" rtlCol="0" anchor="t"/>
          <a:lstStyle/>
          <a:p>
            <a:pPr algn="ctr" indent="0" marL="0">
              <a:lnSpc>
                <a:spcPts val="3050"/>
              </a:lnSpc>
              <a:buNone/>
            </a:pPr>
            <a:endParaRPr lang="en-US" sz="20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702129" y="2386370"/>
            <a:ext cx="513874" cy="513874"/>
          </a:xfrm>
          <a:prstGeom prst="rect">
            <a:avLst/>
          </a:prstGeom>
        </p:spPr>
      </p:pic>
      <p:sp>
        <p:nvSpPr>
          <p:cNvPr id="5" name="Text 2"/>
          <p:cNvSpPr/>
          <p:nvPr/>
        </p:nvSpPr>
        <p:spPr>
          <a:xfrm>
            <a:off x="2674263" y="3133011"/>
            <a:ext cx="2569488" cy="321112"/>
          </a:xfrm>
          <a:prstGeom prst="rect">
            <a:avLst/>
          </a:prstGeom>
          <a:noFill/>
          <a:ln/>
        </p:spPr>
        <p:txBody>
          <a:bodyPr wrap="none" lIns="0" tIns="0" rIns="0" bIns="0" rtlCol="0" anchor="t"/>
          <a:lstStyle/>
          <a:p>
            <a:pPr algn="ctr" indent="0" marL="0">
              <a:lnSpc>
                <a:spcPts val="2500"/>
              </a:lnSpc>
              <a:buNone/>
            </a:pPr>
            <a:r>
              <a:rPr lang="en-US" sz="2000" b="1" dirty="0">
                <a:solidFill>
                  <a:srgbClr val="272525"/>
                </a:solidFill>
                <a:latin typeface="Inter Bold" pitchFamily="34" charset="0"/>
                <a:ea typeface="Inter Bold" pitchFamily="34" charset="-122"/>
                <a:cs typeface="Inter Bold" pitchFamily="34" charset="-120"/>
              </a:rPr>
              <a:t>Python</a:t>
            </a:r>
            <a:endParaRPr lang="en-US" sz="2000" dirty="0"/>
          </a:p>
        </p:txBody>
      </p:sp>
      <p:sp>
        <p:nvSpPr>
          <p:cNvPr id="6" name="Text 3"/>
          <p:cNvSpPr/>
          <p:nvPr/>
        </p:nvSpPr>
        <p:spPr>
          <a:xfrm>
            <a:off x="719376" y="3565803"/>
            <a:ext cx="6479381" cy="313492"/>
          </a:xfrm>
          <a:prstGeom prst="rect">
            <a:avLst/>
          </a:prstGeom>
          <a:noFill/>
          <a:ln/>
        </p:spPr>
        <p:txBody>
          <a:bodyPr wrap="none" lIns="0" tIns="0" rIns="0" bIns="0" rtlCol="0" anchor="t"/>
          <a:lstStyle/>
          <a:p>
            <a:pPr algn="ctr" indent="0" marL="0">
              <a:lnSpc>
                <a:spcPts val="2450"/>
              </a:lnSpc>
              <a:buNone/>
            </a:pPr>
            <a:r>
              <a:rPr lang="en-US" sz="1600" dirty="0">
                <a:solidFill>
                  <a:srgbClr val="272525"/>
                </a:solidFill>
                <a:latin typeface="Inter" pitchFamily="34" charset="0"/>
                <a:ea typeface="Inter" pitchFamily="34" charset="-122"/>
                <a:cs typeface="Inter" pitchFamily="34" charset="-120"/>
              </a:rPr>
              <a:t>Backend</a:t>
            </a:r>
            <a:endParaRPr lang="en-US" sz="16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278" y="2386370"/>
            <a:ext cx="513874" cy="513874"/>
          </a:xfrm>
          <a:prstGeom prst="rect">
            <a:avLst/>
          </a:prstGeom>
        </p:spPr>
      </p:pic>
      <p:sp>
        <p:nvSpPr>
          <p:cNvPr id="8" name="Text 4"/>
          <p:cNvSpPr/>
          <p:nvPr/>
        </p:nvSpPr>
        <p:spPr>
          <a:xfrm>
            <a:off x="9386530" y="3133011"/>
            <a:ext cx="2569488" cy="321112"/>
          </a:xfrm>
          <a:prstGeom prst="rect">
            <a:avLst/>
          </a:prstGeom>
          <a:noFill/>
          <a:ln/>
        </p:spPr>
        <p:txBody>
          <a:bodyPr wrap="none" lIns="0" tIns="0" rIns="0" bIns="0" rtlCol="0" anchor="t"/>
          <a:lstStyle/>
          <a:p>
            <a:pPr algn="ctr" indent="0" marL="0">
              <a:lnSpc>
                <a:spcPts val="2500"/>
              </a:lnSpc>
              <a:buNone/>
            </a:pPr>
            <a:r>
              <a:rPr lang="en-US" sz="2000" b="1" dirty="0">
                <a:solidFill>
                  <a:srgbClr val="272525"/>
                </a:solidFill>
                <a:latin typeface="Inter Bold" pitchFamily="34" charset="0"/>
                <a:ea typeface="Inter Bold" pitchFamily="34" charset="-122"/>
                <a:cs typeface="Inter Bold" pitchFamily="34" charset="-120"/>
              </a:rPr>
              <a:t>Flask</a:t>
            </a:r>
            <a:endParaRPr lang="en-US" sz="2000" dirty="0"/>
          </a:p>
        </p:txBody>
      </p:sp>
      <p:sp>
        <p:nvSpPr>
          <p:cNvPr id="9" name="Text 5"/>
          <p:cNvSpPr/>
          <p:nvPr/>
        </p:nvSpPr>
        <p:spPr>
          <a:xfrm>
            <a:off x="7431524" y="3565803"/>
            <a:ext cx="6479500" cy="313492"/>
          </a:xfrm>
          <a:prstGeom prst="rect">
            <a:avLst/>
          </a:prstGeom>
          <a:noFill/>
          <a:ln/>
        </p:spPr>
        <p:txBody>
          <a:bodyPr wrap="none" lIns="0" tIns="0" rIns="0" bIns="0" rtlCol="0" anchor="t"/>
          <a:lstStyle/>
          <a:p>
            <a:pPr algn="ctr" indent="0" marL="0">
              <a:lnSpc>
                <a:spcPts val="2450"/>
              </a:lnSpc>
              <a:buNone/>
            </a:pPr>
            <a:r>
              <a:rPr lang="en-US" sz="1600" dirty="0">
                <a:solidFill>
                  <a:srgbClr val="272525"/>
                </a:solidFill>
                <a:latin typeface="Inter" pitchFamily="34" charset="0"/>
                <a:ea typeface="Inter" pitchFamily="34" charset="-122"/>
                <a:cs typeface="Inter" pitchFamily="34" charset="-120"/>
              </a:rPr>
              <a:t>Web server</a:t>
            </a:r>
            <a:endParaRPr lang="en-US" sz="16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02129" y="4251841"/>
            <a:ext cx="513874" cy="513874"/>
          </a:xfrm>
          <a:prstGeom prst="rect">
            <a:avLst/>
          </a:prstGeom>
        </p:spPr>
      </p:pic>
      <p:sp>
        <p:nvSpPr>
          <p:cNvPr id="11" name="Text 6"/>
          <p:cNvSpPr/>
          <p:nvPr/>
        </p:nvSpPr>
        <p:spPr>
          <a:xfrm>
            <a:off x="2674263" y="4998482"/>
            <a:ext cx="2569488" cy="321112"/>
          </a:xfrm>
          <a:prstGeom prst="rect">
            <a:avLst/>
          </a:prstGeom>
          <a:noFill/>
          <a:ln/>
        </p:spPr>
        <p:txBody>
          <a:bodyPr wrap="none" lIns="0" tIns="0" rIns="0" bIns="0" rtlCol="0" anchor="t"/>
          <a:lstStyle/>
          <a:p>
            <a:pPr algn="ctr" indent="0" marL="0">
              <a:lnSpc>
                <a:spcPts val="2500"/>
              </a:lnSpc>
              <a:buNone/>
            </a:pPr>
            <a:r>
              <a:rPr lang="en-US" sz="2000" b="1" dirty="0">
                <a:solidFill>
                  <a:srgbClr val="272525"/>
                </a:solidFill>
                <a:latin typeface="Inter Bold" pitchFamily="34" charset="0"/>
                <a:ea typeface="Inter Bold" pitchFamily="34" charset="-122"/>
                <a:cs typeface="Inter Bold" pitchFamily="34" charset="-120"/>
              </a:rPr>
              <a:t>SQLite</a:t>
            </a:r>
            <a:endParaRPr lang="en-US" sz="2000" dirty="0"/>
          </a:p>
        </p:txBody>
      </p:sp>
      <p:sp>
        <p:nvSpPr>
          <p:cNvPr id="12" name="Text 7"/>
          <p:cNvSpPr/>
          <p:nvPr/>
        </p:nvSpPr>
        <p:spPr>
          <a:xfrm>
            <a:off x="719376" y="5431274"/>
            <a:ext cx="6479381" cy="313492"/>
          </a:xfrm>
          <a:prstGeom prst="rect">
            <a:avLst/>
          </a:prstGeom>
          <a:noFill/>
          <a:ln/>
        </p:spPr>
        <p:txBody>
          <a:bodyPr wrap="none" lIns="0" tIns="0" rIns="0" bIns="0" rtlCol="0" anchor="t"/>
          <a:lstStyle/>
          <a:p>
            <a:pPr algn="ctr" indent="0" marL="0">
              <a:lnSpc>
                <a:spcPts val="2450"/>
              </a:lnSpc>
              <a:buNone/>
            </a:pPr>
            <a:r>
              <a:rPr lang="en-US" sz="1600" dirty="0">
                <a:solidFill>
                  <a:srgbClr val="272525"/>
                </a:solidFill>
                <a:latin typeface="Inter" pitchFamily="34" charset="0"/>
                <a:ea typeface="Inter" pitchFamily="34" charset="-122"/>
                <a:cs typeface="Inter" pitchFamily="34" charset="-120"/>
              </a:rPr>
              <a:t>Database</a:t>
            </a:r>
            <a:endParaRPr lang="en-US" sz="16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14278" y="4251841"/>
            <a:ext cx="513874" cy="513874"/>
          </a:xfrm>
          <a:prstGeom prst="rect">
            <a:avLst/>
          </a:prstGeom>
        </p:spPr>
      </p:pic>
      <p:sp>
        <p:nvSpPr>
          <p:cNvPr id="14" name="Text 8"/>
          <p:cNvSpPr/>
          <p:nvPr/>
        </p:nvSpPr>
        <p:spPr>
          <a:xfrm>
            <a:off x="9386530" y="4998482"/>
            <a:ext cx="2569488" cy="321112"/>
          </a:xfrm>
          <a:prstGeom prst="rect">
            <a:avLst/>
          </a:prstGeom>
          <a:noFill/>
          <a:ln/>
        </p:spPr>
        <p:txBody>
          <a:bodyPr wrap="none" lIns="0" tIns="0" rIns="0" bIns="0" rtlCol="0" anchor="t"/>
          <a:lstStyle/>
          <a:p>
            <a:pPr algn="ctr" indent="0" marL="0">
              <a:lnSpc>
                <a:spcPts val="2500"/>
              </a:lnSpc>
              <a:buNone/>
            </a:pPr>
            <a:r>
              <a:rPr lang="en-US" sz="2000" b="1" dirty="0">
                <a:solidFill>
                  <a:srgbClr val="272525"/>
                </a:solidFill>
                <a:latin typeface="Inter Bold" pitchFamily="34" charset="0"/>
                <a:ea typeface="Inter Bold" pitchFamily="34" charset="-122"/>
                <a:cs typeface="Inter Bold" pitchFamily="34" charset="-120"/>
              </a:rPr>
              <a:t>Frontend</a:t>
            </a:r>
            <a:endParaRPr lang="en-US" sz="2000" dirty="0"/>
          </a:p>
        </p:txBody>
      </p:sp>
      <p:sp>
        <p:nvSpPr>
          <p:cNvPr id="15" name="Text 9"/>
          <p:cNvSpPr/>
          <p:nvPr/>
        </p:nvSpPr>
        <p:spPr>
          <a:xfrm>
            <a:off x="7431524" y="5431274"/>
            <a:ext cx="6479500" cy="313492"/>
          </a:xfrm>
          <a:prstGeom prst="rect">
            <a:avLst/>
          </a:prstGeom>
          <a:noFill/>
          <a:ln/>
        </p:spPr>
        <p:txBody>
          <a:bodyPr wrap="none" lIns="0" tIns="0" rIns="0" bIns="0" rtlCol="0" anchor="t"/>
          <a:lstStyle/>
          <a:p>
            <a:pPr algn="ctr" indent="0" marL="0">
              <a:lnSpc>
                <a:spcPts val="2450"/>
              </a:lnSpc>
              <a:buNone/>
            </a:pPr>
            <a:r>
              <a:rPr lang="en-US" sz="1600" dirty="0">
                <a:solidFill>
                  <a:srgbClr val="272525"/>
                </a:solidFill>
                <a:latin typeface="Inter" pitchFamily="34" charset="0"/>
                <a:ea typeface="Inter" pitchFamily="34" charset="-122"/>
                <a:cs typeface="Inter" pitchFamily="34" charset="-120"/>
              </a:rPr>
              <a:t>HTML, CSS, JS, &amp; Bootstrap</a:t>
            </a:r>
            <a:endParaRPr lang="en-US" sz="160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702129" y="6117312"/>
            <a:ext cx="513874" cy="513874"/>
          </a:xfrm>
          <a:prstGeom prst="rect">
            <a:avLst/>
          </a:prstGeom>
        </p:spPr>
      </p:pic>
      <p:sp>
        <p:nvSpPr>
          <p:cNvPr id="17" name="Text 10"/>
          <p:cNvSpPr/>
          <p:nvPr/>
        </p:nvSpPr>
        <p:spPr>
          <a:xfrm>
            <a:off x="2674263" y="6863953"/>
            <a:ext cx="2569488" cy="321112"/>
          </a:xfrm>
          <a:prstGeom prst="rect">
            <a:avLst/>
          </a:prstGeom>
          <a:noFill/>
          <a:ln/>
        </p:spPr>
        <p:txBody>
          <a:bodyPr wrap="none" lIns="0" tIns="0" rIns="0" bIns="0" rtlCol="0" anchor="t"/>
          <a:lstStyle/>
          <a:p>
            <a:pPr algn="ctr" indent="0" marL="0">
              <a:lnSpc>
                <a:spcPts val="2500"/>
              </a:lnSpc>
              <a:buNone/>
            </a:pPr>
            <a:r>
              <a:rPr lang="en-US" sz="2000" b="1" dirty="0">
                <a:solidFill>
                  <a:srgbClr val="272525"/>
                </a:solidFill>
                <a:latin typeface="Inter Bold" pitchFamily="34" charset="0"/>
                <a:ea typeface="Inter Bold" pitchFamily="34" charset="-122"/>
                <a:cs typeface="Inter Bold" pitchFamily="34" charset="-120"/>
              </a:rPr>
              <a:t>yfinance API</a:t>
            </a:r>
            <a:endParaRPr lang="en-US" sz="2000" dirty="0"/>
          </a:p>
        </p:txBody>
      </p:sp>
      <p:sp>
        <p:nvSpPr>
          <p:cNvPr id="18" name="Text 11"/>
          <p:cNvSpPr/>
          <p:nvPr/>
        </p:nvSpPr>
        <p:spPr>
          <a:xfrm>
            <a:off x="719376" y="7296745"/>
            <a:ext cx="6479381" cy="313492"/>
          </a:xfrm>
          <a:prstGeom prst="rect">
            <a:avLst/>
          </a:prstGeom>
          <a:noFill/>
          <a:ln/>
        </p:spPr>
        <p:txBody>
          <a:bodyPr wrap="none" lIns="0" tIns="0" rIns="0" bIns="0" rtlCol="0" anchor="t"/>
          <a:lstStyle/>
          <a:p>
            <a:pPr algn="ctr" indent="0" marL="0">
              <a:lnSpc>
                <a:spcPts val="2450"/>
              </a:lnSpc>
              <a:buNone/>
            </a:pPr>
            <a:r>
              <a:rPr lang="en-US" sz="1600" dirty="0">
                <a:solidFill>
                  <a:srgbClr val="272525"/>
                </a:solidFill>
                <a:latin typeface="Inter" pitchFamily="34" charset="0"/>
                <a:ea typeface="Inter" pitchFamily="34" charset="-122"/>
                <a:cs typeface="Inter" pitchFamily="34" charset="-120"/>
              </a:rPr>
              <a:t>Yahoo Finance</a:t>
            </a:r>
            <a:endParaRPr lang="en-US" sz="1600" dirty="0"/>
          </a:p>
        </p:txBody>
      </p:sp>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414278" y="6117312"/>
            <a:ext cx="513874" cy="513874"/>
          </a:xfrm>
          <a:prstGeom prst="rect">
            <a:avLst/>
          </a:prstGeom>
        </p:spPr>
      </p:pic>
      <p:sp>
        <p:nvSpPr>
          <p:cNvPr id="20" name="Text 12"/>
          <p:cNvSpPr/>
          <p:nvPr/>
        </p:nvSpPr>
        <p:spPr>
          <a:xfrm>
            <a:off x="9386530" y="6863953"/>
            <a:ext cx="2569488" cy="321112"/>
          </a:xfrm>
          <a:prstGeom prst="rect">
            <a:avLst/>
          </a:prstGeom>
          <a:noFill/>
          <a:ln/>
        </p:spPr>
        <p:txBody>
          <a:bodyPr wrap="none" lIns="0" tIns="0" rIns="0" bIns="0" rtlCol="0" anchor="t"/>
          <a:lstStyle/>
          <a:p>
            <a:pPr algn="ctr" indent="0" marL="0">
              <a:lnSpc>
                <a:spcPts val="2500"/>
              </a:lnSpc>
              <a:buNone/>
            </a:pPr>
            <a:r>
              <a:rPr lang="en-US" sz="2000" b="1" dirty="0">
                <a:solidFill>
                  <a:srgbClr val="272525"/>
                </a:solidFill>
                <a:latin typeface="Inter Bold" pitchFamily="34" charset="0"/>
                <a:ea typeface="Inter Bold" pitchFamily="34" charset="-122"/>
                <a:cs typeface="Inter Bold" pitchFamily="34" charset="-120"/>
              </a:rPr>
              <a:t>Dev Tools</a:t>
            </a:r>
            <a:endParaRPr lang="en-US" sz="2000" dirty="0"/>
          </a:p>
        </p:txBody>
      </p:sp>
      <p:sp>
        <p:nvSpPr>
          <p:cNvPr id="21" name="Text 13"/>
          <p:cNvSpPr/>
          <p:nvPr/>
        </p:nvSpPr>
        <p:spPr>
          <a:xfrm>
            <a:off x="7431524" y="7296745"/>
            <a:ext cx="6479500" cy="313492"/>
          </a:xfrm>
          <a:prstGeom prst="rect">
            <a:avLst/>
          </a:prstGeom>
          <a:noFill/>
          <a:ln/>
        </p:spPr>
        <p:txBody>
          <a:bodyPr wrap="none" lIns="0" tIns="0" rIns="0" bIns="0" rtlCol="0" anchor="t"/>
          <a:lstStyle/>
          <a:p>
            <a:pPr algn="ctr" indent="0" marL="0">
              <a:lnSpc>
                <a:spcPts val="2450"/>
              </a:lnSpc>
              <a:buNone/>
            </a:pPr>
            <a:r>
              <a:rPr lang="en-US" sz="1600" dirty="0">
                <a:solidFill>
                  <a:srgbClr val="272525"/>
                </a:solidFill>
                <a:latin typeface="Inter" pitchFamily="34" charset="0"/>
                <a:ea typeface="Inter" pitchFamily="34" charset="-122"/>
                <a:cs typeface="Inter" pitchFamily="34" charset="-120"/>
              </a:rPr>
              <a:t>VS Code and browser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402449" y="2429589"/>
            <a:ext cx="7825502" cy="978218"/>
          </a:xfrm>
          <a:prstGeom prst="rect">
            <a:avLst/>
          </a:prstGeom>
          <a:noFill/>
          <a:ln/>
        </p:spPr>
        <p:txBody>
          <a:bodyPr wrap="none" lIns="0" tIns="0" rIns="0" bIns="0" rtlCol="0" anchor="t"/>
          <a:lstStyle/>
          <a:p>
            <a:pPr algn="ctr" indent="0" marL="0">
              <a:lnSpc>
                <a:spcPts val="7700"/>
              </a:lnSpc>
              <a:buNone/>
            </a:pPr>
            <a:r>
              <a:rPr lang="en-US" sz="6150" b="1" dirty="0">
                <a:solidFill>
                  <a:srgbClr val="000000"/>
                </a:solidFill>
                <a:latin typeface="Inter Bold" pitchFamily="34" charset="0"/>
                <a:ea typeface="Inter Bold" pitchFamily="34" charset="-122"/>
                <a:cs typeface="Inter Bold" pitchFamily="34" charset="-120"/>
              </a:rPr>
              <a:t>Modules</a:t>
            </a:r>
            <a:endParaRPr lang="en-US" sz="6150" dirty="0"/>
          </a:p>
        </p:txBody>
      </p:sp>
      <p:sp>
        <p:nvSpPr>
          <p:cNvPr id="3" name="Text 1"/>
          <p:cNvSpPr/>
          <p:nvPr/>
        </p:nvSpPr>
        <p:spPr>
          <a:xfrm>
            <a:off x="793790" y="3952042"/>
            <a:ext cx="3978116"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User Authentication </a:t>
            </a:r>
            <a:endParaRPr lang="en-US" sz="1750" dirty="0"/>
          </a:p>
        </p:txBody>
      </p:sp>
      <p:sp>
        <p:nvSpPr>
          <p:cNvPr id="4" name="Text 2"/>
          <p:cNvSpPr/>
          <p:nvPr/>
        </p:nvSpPr>
        <p:spPr>
          <a:xfrm>
            <a:off x="793790" y="4609624"/>
            <a:ext cx="3978116" cy="453509"/>
          </a:xfrm>
          <a:prstGeom prst="rect">
            <a:avLst/>
          </a:prstGeom>
          <a:noFill/>
          <a:ln/>
        </p:spPr>
        <p:txBody>
          <a:bodyPr wrap="none" lIns="0" tIns="0" rIns="0" bIns="0" rtlCol="0" anchor="t"/>
          <a:lstStyle/>
          <a:p>
            <a:pPr algn="ctr" indent="0" marL="0">
              <a:lnSpc>
                <a:spcPts val="3550"/>
              </a:lnSpc>
              <a:buNone/>
            </a:pPr>
            <a:endParaRPr lang="en-US" sz="2200" dirty="0"/>
          </a:p>
        </p:txBody>
      </p:sp>
      <p:sp>
        <p:nvSpPr>
          <p:cNvPr id="5" name="Text 3"/>
          <p:cNvSpPr/>
          <p:nvPr/>
        </p:nvSpPr>
        <p:spPr>
          <a:xfrm>
            <a:off x="793790" y="5267206"/>
            <a:ext cx="3978116"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Portfolio Management </a:t>
            </a:r>
            <a:endParaRPr lang="en-US" sz="1750" dirty="0"/>
          </a:p>
        </p:txBody>
      </p:sp>
      <p:sp>
        <p:nvSpPr>
          <p:cNvPr id="6" name="Text 4"/>
          <p:cNvSpPr/>
          <p:nvPr/>
        </p:nvSpPr>
        <p:spPr>
          <a:xfrm>
            <a:off x="5332928" y="3952042"/>
            <a:ext cx="3978116"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Stock Search </a:t>
            </a:r>
            <a:endParaRPr lang="en-US" sz="1750" dirty="0"/>
          </a:p>
        </p:txBody>
      </p:sp>
      <p:sp>
        <p:nvSpPr>
          <p:cNvPr id="7" name="Text 5"/>
          <p:cNvSpPr/>
          <p:nvPr/>
        </p:nvSpPr>
        <p:spPr>
          <a:xfrm>
            <a:off x="5332928" y="4609624"/>
            <a:ext cx="3978116" cy="453509"/>
          </a:xfrm>
          <a:prstGeom prst="rect">
            <a:avLst/>
          </a:prstGeom>
          <a:noFill/>
          <a:ln/>
        </p:spPr>
        <p:txBody>
          <a:bodyPr wrap="none" lIns="0" tIns="0" rIns="0" bIns="0" rtlCol="0" anchor="t"/>
          <a:lstStyle/>
          <a:p>
            <a:pPr algn="ctr" indent="0" marL="0">
              <a:lnSpc>
                <a:spcPts val="3550"/>
              </a:lnSpc>
              <a:buNone/>
            </a:pPr>
            <a:endParaRPr lang="en-US" sz="2200" dirty="0"/>
          </a:p>
        </p:txBody>
      </p:sp>
      <p:sp>
        <p:nvSpPr>
          <p:cNvPr id="8" name="Text 6"/>
          <p:cNvSpPr/>
          <p:nvPr/>
        </p:nvSpPr>
        <p:spPr>
          <a:xfrm>
            <a:off x="5332928" y="5267206"/>
            <a:ext cx="3978116"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Transaction History </a:t>
            </a:r>
            <a:endParaRPr lang="en-US" sz="1750" dirty="0"/>
          </a:p>
        </p:txBody>
      </p:sp>
      <p:sp>
        <p:nvSpPr>
          <p:cNvPr id="9" name="Text 7"/>
          <p:cNvSpPr/>
          <p:nvPr/>
        </p:nvSpPr>
        <p:spPr>
          <a:xfrm>
            <a:off x="9872067" y="3952042"/>
            <a:ext cx="3978116"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Buy / Sell Stock </a:t>
            </a:r>
            <a:endParaRPr lang="en-US" sz="1750" dirty="0"/>
          </a:p>
        </p:txBody>
      </p:sp>
      <p:sp>
        <p:nvSpPr>
          <p:cNvPr id="10" name="Text 8"/>
          <p:cNvSpPr/>
          <p:nvPr/>
        </p:nvSpPr>
        <p:spPr>
          <a:xfrm>
            <a:off x="9872067" y="4609624"/>
            <a:ext cx="3978116" cy="453509"/>
          </a:xfrm>
          <a:prstGeom prst="rect">
            <a:avLst/>
          </a:prstGeom>
          <a:noFill/>
          <a:ln/>
        </p:spPr>
        <p:txBody>
          <a:bodyPr wrap="none" lIns="0" tIns="0" rIns="0" bIns="0" rtlCol="0" anchor="t"/>
          <a:lstStyle/>
          <a:p>
            <a:pPr algn="ctr" indent="0" marL="0">
              <a:lnSpc>
                <a:spcPts val="3550"/>
              </a:lnSpc>
              <a:buNone/>
            </a:pPr>
            <a:endParaRPr lang="en-US" sz="2200" dirty="0"/>
          </a:p>
        </p:txBody>
      </p:sp>
      <p:sp>
        <p:nvSpPr>
          <p:cNvPr id="11" name="Text 9"/>
          <p:cNvSpPr/>
          <p:nvPr/>
        </p:nvSpPr>
        <p:spPr>
          <a:xfrm>
            <a:off x="9872067" y="5267206"/>
            <a:ext cx="3978116"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Database Management </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581043" y="594836"/>
            <a:ext cx="7468195" cy="855821"/>
          </a:xfrm>
          <a:prstGeom prst="rect">
            <a:avLst/>
          </a:prstGeom>
          <a:noFill/>
          <a:ln/>
        </p:spPr>
        <p:txBody>
          <a:bodyPr wrap="none" lIns="0" tIns="0" rIns="0" bIns="0" rtlCol="0" anchor="t"/>
          <a:lstStyle/>
          <a:p>
            <a:pPr algn="ctr" indent="0" marL="0">
              <a:lnSpc>
                <a:spcPts val="6700"/>
              </a:lnSpc>
              <a:buNone/>
            </a:pPr>
            <a:r>
              <a:rPr lang="en-US" sz="5350" b="1" dirty="0">
                <a:solidFill>
                  <a:srgbClr val="000000"/>
                </a:solidFill>
                <a:latin typeface="Inter Bold" pitchFamily="34" charset="0"/>
                <a:ea typeface="Inter Bold" pitchFamily="34" charset="-122"/>
                <a:cs typeface="Inter Bold" pitchFamily="34" charset="-120"/>
              </a:rPr>
              <a:t>CFD AND ER Diagrams</a:t>
            </a:r>
            <a:endParaRPr lang="en-US" sz="5350" dirty="0"/>
          </a:p>
        </p:txBody>
      </p:sp>
      <p:sp>
        <p:nvSpPr>
          <p:cNvPr id="3" name="Text 1"/>
          <p:cNvSpPr/>
          <p:nvPr/>
        </p:nvSpPr>
        <p:spPr>
          <a:xfrm>
            <a:off x="694611" y="1867257"/>
            <a:ext cx="6378535" cy="297656"/>
          </a:xfrm>
          <a:prstGeom prst="rect">
            <a:avLst/>
          </a:prstGeom>
          <a:noFill/>
          <a:ln/>
        </p:spPr>
        <p:txBody>
          <a:bodyPr wrap="none" lIns="0" tIns="0" rIns="0" bIns="0" rtlCol="0" anchor="t"/>
          <a:lstStyle/>
          <a:p>
            <a:pPr algn="l" indent="0" marL="0">
              <a:lnSpc>
                <a:spcPts val="2300"/>
              </a:lnSpc>
              <a:buNone/>
            </a:pPr>
            <a:endParaRPr lang="en-US" sz="1550" dirty="0"/>
          </a:p>
        </p:txBody>
      </p:sp>
      <p:sp>
        <p:nvSpPr>
          <p:cNvPr id="4" name="Text 2"/>
          <p:cNvSpPr/>
          <p:nvPr/>
        </p:nvSpPr>
        <p:spPr>
          <a:xfrm>
            <a:off x="2551867" y="2338507"/>
            <a:ext cx="2664023" cy="310158"/>
          </a:xfrm>
          <a:prstGeom prst="rect">
            <a:avLst/>
          </a:prstGeom>
          <a:noFill/>
          <a:ln/>
        </p:spPr>
        <p:txBody>
          <a:bodyPr wrap="none" lIns="0" tIns="0" rIns="0" bIns="0" rtlCol="0" anchor="t"/>
          <a:lstStyle/>
          <a:p>
            <a:pPr algn="ctr" indent="0" marL="0">
              <a:lnSpc>
                <a:spcPts val="2400"/>
              </a:lnSpc>
              <a:buNone/>
            </a:pPr>
            <a:r>
              <a:rPr lang="en-US" sz="1950" b="1" dirty="0">
                <a:solidFill>
                  <a:srgbClr val="000000"/>
                </a:solidFill>
                <a:latin typeface="Inter Bold" pitchFamily="34" charset="0"/>
                <a:ea typeface="Inter Bold" pitchFamily="34" charset="-122"/>
                <a:cs typeface="Inter Bold" pitchFamily="34" charset="-120"/>
              </a:rPr>
              <a:t>Context Flow Diagram</a:t>
            </a:r>
            <a:endParaRPr lang="en-US" sz="1950" dirty="0"/>
          </a:p>
        </p:txBody>
      </p:sp>
      <p:pic>
        <p:nvPicPr>
          <p:cNvPr id="5" name="Image 0" descr="preencoded.png">    </p:cNvPr>
          <p:cNvPicPr>
            <a:picLocks noChangeAspect="1"/>
          </p:cNvPicPr>
          <p:nvPr/>
        </p:nvPicPr>
        <p:blipFill>
          <a:blip r:embed="rId1"/>
          <a:stretch>
            <a:fillRect/>
          </a:stretch>
        </p:blipFill>
        <p:spPr>
          <a:xfrm>
            <a:off x="1408509" y="2843927"/>
            <a:ext cx="4950738" cy="3648670"/>
          </a:xfrm>
          <a:prstGeom prst="rect">
            <a:avLst/>
          </a:prstGeom>
        </p:spPr>
      </p:pic>
      <p:sp>
        <p:nvSpPr>
          <p:cNvPr id="6" name="Text 3"/>
          <p:cNvSpPr/>
          <p:nvPr/>
        </p:nvSpPr>
        <p:spPr>
          <a:xfrm>
            <a:off x="694611" y="6687860"/>
            <a:ext cx="6378535" cy="297656"/>
          </a:xfrm>
          <a:prstGeom prst="rect">
            <a:avLst/>
          </a:prstGeom>
          <a:noFill/>
          <a:ln/>
        </p:spPr>
        <p:txBody>
          <a:bodyPr wrap="none" lIns="0" tIns="0" rIns="0" bIns="0" rtlCol="0" anchor="t"/>
          <a:lstStyle/>
          <a:p>
            <a:pPr algn="l" indent="0" marL="0">
              <a:lnSpc>
                <a:spcPts val="2300"/>
              </a:lnSpc>
              <a:buNone/>
            </a:pPr>
            <a:endParaRPr lang="en-US" sz="1550" dirty="0"/>
          </a:p>
        </p:txBody>
      </p:sp>
      <p:sp>
        <p:nvSpPr>
          <p:cNvPr id="7" name="Text 4"/>
          <p:cNvSpPr/>
          <p:nvPr/>
        </p:nvSpPr>
        <p:spPr>
          <a:xfrm>
            <a:off x="7564874" y="1867257"/>
            <a:ext cx="6378535" cy="297656"/>
          </a:xfrm>
          <a:prstGeom prst="rect">
            <a:avLst/>
          </a:prstGeom>
          <a:noFill/>
          <a:ln/>
        </p:spPr>
        <p:txBody>
          <a:bodyPr wrap="none" lIns="0" tIns="0" rIns="0" bIns="0" rtlCol="0" anchor="t"/>
          <a:lstStyle/>
          <a:p>
            <a:pPr algn="l" indent="0" marL="0">
              <a:lnSpc>
                <a:spcPts val="2300"/>
              </a:lnSpc>
              <a:buNone/>
            </a:pPr>
            <a:endParaRPr lang="en-US" sz="1550" dirty="0"/>
          </a:p>
        </p:txBody>
      </p:sp>
      <p:sp>
        <p:nvSpPr>
          <p:cNvPr id="8" name="Text 5"/>
          <p:cNvSpPr/>
          <p:nvPr/>
        </p:nvSpPr>
        <p:spPr>
          <a:xfrm>
            <a:off x="9083516" y="2338507"/>
            <a:ext cx="3341251" cy="310158"/>
          </a:xfrm>
          <a:prstGeom prst="rect">
            <a:avLst/>
          </a:prstGeom>
          <a:noFill/>
          <a:ln/>
        </p:spPr>
        <p:txBody>
          <a:bodyPr wrap="none" lIns="0" tIns="0" rIns="0" bIns="0" rtlCol="0" anchor="t"/>
          <a:lstStyle/>
          <a:p>
            <a:pPr algn="ctr" indent="0" marL="0">
              <a:lnSpc>
                <a:spcPts val="2400"/>
              </a:lnSpc>
              <a:buNone/>
            </a:pPr>
            <a:r>
              <a:rPr lang="en-US" sz="1950" b="1" dirty="0">
                <a:solidFill>
                  <a:srgbClr val="000000"/>
                </a:solidFill>
                <a:latin typeface="Inter Bold" pitchFamily="34" charset="0"/>
                <a:ea typeface="Inter Bold" pitchFamily="34" charset="-122"/>
                <a:cs typeface="Inter Bold" pitchFamily="34" charset="-120"/>
              </a:rPr>
              <a:t>Entity Relationship Diagram</a:t>
            </a:r>
            <a:endParaRPr lang="en-US" sz="1950" dirty="0"/>
          </a:p>
        </p:txBody>
      </p:sp>
      <p:pic>
        <p:nvPicPr>
          <p:cNvPr id="9" name="Image 1" descr="preencoded.png">    </p:cNvPr>
          <p:cNvPicPr>
            <a:picLocks noChangeAspect="1"/>
          </p:cNvPicPr>
          <p:nvPr/>
        </p:nvPicPr>
        <p:blipFill>
          <a:blip r:embed="rId2"/>
          <a:stretch>
            <a:fillRect/>
          </a:stretch>
        </p:blipFill>
        <p:spPr>
          <a:xfrm>
            <a:off x="8019574" y="2843927"/>
            <a:ext cx="5469017" cy="3929420"/>
          </a:xfrm>
          <a:prstGeom prst="rect">
            <a:avLst/>
          </a:prstGeom>
        </p:spPr>
      </p:pic>
      <p:sp>
        <p:nvSpPr>
          <p:cNvPr id="10" name="Text 6"/>
          <p:cNvSpPr/>
          <p:nvPr/>
        </p:nvSpPr>
        <p:spPr>
          <a:xfrm>
            <a:off x="694611" y="7336988"/>
            <a:ext cx="13241179" cy="297656"/>
          </a:xfrm>
          <a:prstGeom prst="rect">
            <a:avLst/>
          </a:prstGeom>
          <a:noFill/>
          <a:ln/>
        </p:spPr>
        <p:txBody>
          <a:bodyPr wrap="none" lIns="0" tIns="0" rIns="0" bIns="0" rtlCol="0" anchor="t"/>
          <a:lstStyle/>
          <a:p>
            <a:pPr algn="l" indent="0" marL="0">
              <a:lnSpc>
                <a:spcPts val="2300"/>
              </a:lnSpc>
              <a:buNone/>
            </a:pP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402449" y="3625691"/>
            <a:ext cx="7825502" cy="978218"/>
          </a:xfrm>
          <a:prstGeom prst="rect">
            <a:avLst/>
          </a:prstGeom>
          <a:noFill/>
          <a:ln/>
        </p:spPr>
        <p:txBody>
          <a:bodyPr wrap="none" lIns="0" tIns="0" rIns="0" bIns="0" rtlCol="0" anchor="t"/>
          <a:lstStyle/>
          <a:p>
            <a:pPr algn="ctr" indent="0" marL="0">
              <a:lnSpc>
                <a:spcPts val="7700"/>
              </a:lnSpc>
              <a:buNone/>
            </a:pPr>
            <a:r>
              <a:rPr lang="en-US" sz="6150" b="1" dirty="0">
                <a:solidFill>
                  <a:srgbClr val="000000"/>
                </a:solidFill>
                <a:latin typeface="Inter Bold" pitchFamily="34" charset="0"/>
                <a:ea typeface="Inter Bold" pitchFamily="34" charset="-122"/>
                <a:cs typeface="Inter Bold" pitchFamily="34" charset="-120"/>
              </a:rPr>
              <a:t>Thank you</a:t>
            </a:r>
            <a:endParaRPr lang="en-US" sz="6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2026-04-10T01:38:53Z</dcterms:created>
  <dcterms:modified xsi:type="dcterms:W3CDTF">2026-04-10T01:38:53Z</dcterms:modified>
</cp:coreProperties>
</file>